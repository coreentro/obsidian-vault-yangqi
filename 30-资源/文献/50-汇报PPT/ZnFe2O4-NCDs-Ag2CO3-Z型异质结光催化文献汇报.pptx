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6fe421b30ea4387" /><Relationship Type="http://schemas.openxmlformats.org/officeDocument/2006/relationships/extended-properties" Target="/docProps/app.xml" Id="R8a7f49bcf4c04a70" /><Relationship Type="http://schemas.openxmlformats.org/officeDocument/2006/relationships/officeDocument" Target="/ppt/presentation.xml" Id="R289359343af74e0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674aa7b2c8041f5"/>
  </p:sldMasterIdLst>
  <p:notesMasterIdLst>
    <p:notesMasterId xmlns:r="http://schemas.openxmlformats.org/officeDocument/2006/relationships" r:id="Reb3f3990e68545fd"/>
  </p:notesMasterIdLst>
  <p:sldIdLst>
    <p:sldId xmlns:r="http://schemas.openxmlformats.org/officeDocument/2006/relationships" id="256" r:id="R3a24443157b0437f"/>
    <p:sldId xmlns:r="http://schemas.openxmlformats.org/officeDocument/2006/relationships" id="257" r:id="Rbdf0b2da91164401"/>
    <p:sldId xmlns:r="http://schemas.openxmlformats.org/officeDocument/2006/relationships" id="258" r:id="R583a70ba0ed04f30"/>
    <p:sldId xmlns:r="http://schemas.openxmlformats.org/officeDocument/2006/relationships" id="259" r:id="R9275687d9e014dfc"/>
    <p:sldId xmlns:r="http://schemas.openxmlformats.org/officeDocument/2006/relationships" id="260" r:id="R1f9774927c8b4699"/>
    <p:sldId xmlns:r="http://schemas.openxmlformats.org/officeDocument/2006/relationships" id="261" r:id="Rec0bd5476ab14944"/>
    <p:sldId xmlns:r="http://schemas.openxmlformats.org/officeDocument/2006/relationships" id="262" r:id="R1ce7b6b2ab9e46be"/>
    <p:sldId xmlns:r="http://schemas.openxmlformats.org/officeDocument/2006/relationships" id="263" r:id="R1746566a43474d79"/>
    <p:sldId xmlns:r="http://schemas.openxmlformats.org/officeDocument/2006/relationships" id="264" r:id="R78d76d7509ce4aaf"/>
    <p:sldId xmlns:r="http://schemas.openxmlformats.org/officeDocument/2006/relationships" id="265" r:id="Rac8571d208314d5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5f2b84e7d984f69" /><Relationship Type="http://schemas.openxmlformats.org/officeDocument/2006/relationships/slideMaster" Target="/ppt/slideMasters/slideMaster1.xml" Id="R2674aa7b2c8041f5" /><Relationship Type="http://schemas.openxmlformats.org/officeDocument/2006/relationships/notesMaster" Target="/ppt/notesMasters/notesMaster1.xml" Id="Reb3f3990e68545fd" /><Relationship Type="http://schemas.openxmlformats.org/officeDocument/2006/relationships/presProps" Target="/ppt/presProps.xml" Id="R6390cec931864429" /><Relationship Type="http://schemas.openxmlformats.org/officeDocument/2006/relationships/viewProps" Target="/ppt/viewProps.xml" Id="Rd63627dee4984401" /><Relationship Type="http://schemas.openxmlformats.org/officeDocument/2006/relationships/tableStyles" Target="/ppt/tableStyles.xml" Id="R754d70d7181c4268" /><Relationship Type="http://schemas.openxmlformats.org/officeDocument/2006/relationships/slide" Target="/ppt/slides/slide1.xml" Id="R3a24443157b0437f" /><Relationship Type="http://schemas.openxmlformats.org/officeDocument/2006/relationships/slide" Target="/ppt/slides/slide2.xml" Id="Rbdf0b2da91164401" /><Relationship Type="http://schemas.openxmlformats.org/officeDocument/2006/relationships/slide" Target="/ppt/slides/slide3.xml" Id="R583a70ba0ed04f30" /><Relationship Type="http://schemas.openxmlformats.org/officeDocument/2006/relationships/slide" Target="/ppt/slides/slide4.xml" Id="R9275687d9e014dfc" /><Relationship Type="http://schemas.openxmlformats.org/officeDocument/2006/relationships/slide" Target="/ppt/slides/slide5.xml" Id="R1f9774927c8b4699" /><Relationship Type="http://schemas.openxmlformats.org/officeDocument/2006/relationships/slide" Target="/ppt/slides/slide6.xml" Id="Rec0bd5476ab14944" /><Relationship Type="http://schemas.openxmlformats.org/officeDocument/2006/relationships/slide" Target="/ppt/slides/slide7.xml" Id="R1ce7b6b2ab9e46be" /><Relationship Type="http://schemas.openxmlformats.org/officeDocument/2006/relationships/slide" Target="/ppt/slides/slide8.xml" Id="R1746566a43474d79" /><Relationship Type="http://schemas.openxmlformats.org/officeDocument/2006/relationships/slide" Target="/ppt/slides/slide9.xml" Id="R78d76d7509ce4aaf" /><Relationship Type="http://schemas.openxmlformats.org/officeDocument/2006/relationships/slide" Target="/ppt/slides/slide10.xml" Id="Rac8571d208314d5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bf42a34aac6419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6f47fd7413e4eff" /><Relationship Type="http://schemas.openxmlformats.org/officeDocument/2006/relationships/notesMaster" Target="/ppt/notesMasters/notesMaster1.xml" Id="R2a8492f84bec498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4b5c86eb8aa4369" /><Relationship Type="http://schemas.openxmlformats.org/officeDocument/2006/relationships/notesMaster" Target="/ppt/notesMasters/notesMaster1.xml" Id="R66edc5fce5934d7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5d0212b6cd84e03" /><Relationship Type="http://schemas.openxmlformats.org/officeDocument/2006/relationships/notesMaster" Target="/ppt/notesMasters/notesMaster1.xml" Id="R4a1906f91c7a443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eef7e2435e645a0" /><Relationship Type="http://schemas.openxmlformats.org/officeDocument/2006/relationships/notesMaster" Target="/ppt/notesMasters/notesMaster1.xml" Id="R589eda77a916432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00f499f5bf64ac2" /><Relationship Type="http://schemas.openxmlformats.org/officeDocument/2006/relationships/notesMaster" Target="/ppt/notesMasters/notesMaster1.xml" Id="Rd39badaca3d6497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44a25629e3f4252" /><Relationship Type="http://schemas.openxmlformats.org/officeDocument/2006/relationships/notesMaster" Target="/ppt/notesMasters/notesMaster1.xml" Id="Rcab5326f0fa14b7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3d8c2ecdfff4b26" /><Relationship Type="http://schemas.openxmlformats.org/officeDocument/2006/relationships/notesMaster" Target="/ppt/notesMasters/notesMaster1.xml" Id="R59ad529300da42a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2208c3192cb4aee" /><Relationship Type="http://schemas.openxmlformats.org/officeDocument/2006/relationships/notesMaster" Target="/ppt/notesMasters/notesMaster1.xml" Id="R81cf61013dfd495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dcdb1634e224c50" /><Relationship Type="http://schemas.openxmlformats.org/officeDocument/2006/relationships/notesMaster" Target="/ppt/notesMasters/notesMaster1.xml" Id="Ref83061e0a1043b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e87c0392c2d412a" /><Relationship Type="http://schemas.openxmlformats.org/officeDocument/2006/relationships/notesMaster" Target="/ppt/notesMasters/notesMaster1.xml" Id="R6ce89a040b084aa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708bac51e24c8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0d4d93c4c964f33" /><Relationship Type="http://schemas.openxmlformats.org/officeDocument/2006/relationships/slideLayout" Target="/ppt/slideLayouts/slideLayout1.xml" Id="R50914953ab8b4d3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0914953ab8b4d3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fb21f4ca254d47" /><Relationship Type="http://schemas.openxmlformats.org/officeDocument/2006/relationships/image" Target="/ppt/media/image.png" Id="R987f09c9155f4ccc" /><Relationship Type="http://schemas.openxmlformats.org/officeDocument/2006/relationships/notesSlide" Target="/ppt/notesSlides/notesSlide1.xml" Id="Ra07384e3fc094c6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97251709f141ba" /><Relationship Type="http://schemas.openxmlformats.org/officeDocument/2006/relationships/notesSlide" Target="/ppt/notesSlides/notesSlide2.xml" Id="R466eaeef7993406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dd1bf6d00749f5" /><Relationship Type="http://schemas.openxmlformats.org/officeDocument/2006/relationships/image" Target="/ppt/media/image2.png" Id="R2a1b80d612b54b46" /><Relationship Type="http://schemas.openxmlformats.org/officeDocument/2006/relationships/notesSlide" Target="/ppt/notesSlides/notesSlide3.xml" Id="R0590207955a94ee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c8b30b93764749" /><Relationship Type="http://schemas.openxmlformats.org/officeDocument/2006/relationships/notesSlide" Target="/ppt/notesSlides/notesSlide4.xml" Id="R4720b5897abb448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d7509ff85c4def" /><Relationship Type="http://schemas.openxmlformats.org/officeDocument/2006/relationships/image" Target="/ppt/media/image3.png" Id="R6557abc5c85347b9" /><Relationship Type="http://schemas.openxmlformats.org/officeDocument/2006/relationships/notesSlide" Target="/ppt/notesSlides/notesSlide5.xml" Id="R7711bceebf8a460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a97c8b335e4bdd" /><Relationship Type="http://schemas.openxmlformats.org/officeDocument/2006/relationships/image" Target="/ppt/media/image4.png" Id="R2c68584cf1004142" /><Relationship Type="http://schemas.openxmlformats.org/officeDocument/2006/relationships/notesSlide" Target="/ppt/notesSlides/notesSlide6.xml" Id="R89137812dce241b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c57476ef494f43" /><Relationship Type="http://schemas.openxmlformats.org/officeDocument/2006/relationships/image" Target="/ppt/media/image5.png" Id="Rf762c715ca8946d4" /><Relationship Type="http://schemas.openxmlformats.org/officeDocument/2006/relationships/image" Target="/ppt/media/image6.png" Id="Rc6173f824f1e4375" /><Relationship Type="http://schemas.openxmlformats.org/officeDocument/2006/relationships/notesSlide" Target="/ppt/notesSlides/notesSlide7.xml" Id="Rf252e188e8e84d0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7ee37daef44833" /><Relationship Type="http://schemas.openxmlformats.org/officeDocument/2006/relationships/image" Target="/ppt/media/image7.png" Id="R6cf1edf013c64ffa" /><Relationship Type="http://schemas.openxmlformats.org/officeDocument/2006/relationships/notesSlide" Target="/ppt/notesSlides/notesSlide8.xml" Id="R913e55aff9af437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4934f00c524286" /><Relationship Type="http://schemas.openxmlformats.org/officeDocument/2006/relationships/image" Target="/ppt/media/image8.png" Id="Rff5887672ff24a9c" /><Relationship Type="http://schemas.openxmlformats.org/officeDocument/2006/relationships/notesSlide" Target="/ppt/notesSlides/notesSlide9.xml" Id="Ra2e17d7f12d740a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dd957ae3de4dfb" /><Relationship Type="http://schemas.openxmlformats.org/officeDocument/2006/relationships/notesSlide" Target="/ppt/notesSlides/notesSlide10.xml" Id="R721913fef4cb4ab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7A5641E-B0A0-44EB-91EF-4B8BC5F5A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2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E91ED5-2D25-41EA-80DF-D3D1219F4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5D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ED111D-0D84-47E4-900F-528DC0206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530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9B94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E9B949"/>
                </a:solidFill>
                <a:latin typeface="Arial"/>
                <a:ea typeface="Arial"/>
                <a:cs typeface="Arial"/>
              </a:rPr>
              <a:t>PAPER BRIEFING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D0F4F7-E773-4E47-9131-CC8CE26DE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90600"/>
            <a:ext cx="657225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磁性可分离 Z 型异质结：</a:t>
            </a:r>
          </a:p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把活性、吸光与回收放进同一套材料设计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805CE9-2ABD-4A59-A40F-689ACA69F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43200"/>
            <a:ext cx="6477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C9D5D6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C9D5D6"/>
                </a:solidFill>
                <a:latin typeface="PingFang SC"/>
                <a:ea typeface="PingFang SC"/>
                <a:cs typeface="PingFang SC"/>
              </a:rPr>
              <a:t>ZnFe2O4 / NCDs / Ag2CO3 光催化降解左氧氟沙星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383A9D-AD08-4CFC-B07A-5187C8A58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552450"/>
            <a:ext cx="426720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7f09c9155f4ccc"/>
          <a:stretch xmlns:a="http://schemas.openxmlformats.org/drawingml/2006/main"/>
        </p:blipFill>
        <p:spPr>
          <a:xfrm xmlns:a="http://schemas.openxmlformats.org/drawingml/2006/main">
            <a:off x="7448550" y="784056"/>
            <a:ext cx="4076700" cy="2051388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2A1494-EA5A-43A2-AB49-FBC2C1DCB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5D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3596A9-BAB9-4D8D-83FD-088CF5230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76675"/>
            <a:ext cx="2095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88.75%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2AC759-7567-418F-A76E-196C2D03C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71975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5F1E8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5F1E8"/>
                </a:solidFill>
                <a:latin typeface="PingFang SC"/>
                <a:ea typeface="PingFang SC"/>
                <a:cs typeface="PingFang SC"/>
              </a:rPr>
              <a:t>可见光降解率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679246-7915-4ACB-975A-FEA32080A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76775"/>
            <a:ext cx="22383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CD0D1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BCD0D1"/>
                </a:solidFill>
                <a:latin typeface="PingFang SC"/>
                <a:ea typeface="PingFang SC"/>
                <a:cs typeface="PingFang SC"/>
              </a:rPr>
              <a:t>LVFX，90 min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8248A4-27EB-4690-BEAF-96BE6D5EE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71475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D77DBB-A9E4-4833-AEA5-5A2D8D00A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876675"/>
            <a:ext cx="2095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22.53%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44A343-EE3A-4A5F-B84F-C041D374A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371975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5F1E8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5F1E8"/>
                </a:solidFill>
                <a:latin typeface="PingFang SC"/>
                <a:ea typeface="PingFang SC"/>
                <a:cs typeface="PingFang SC"/>
              </a:rPr>
              <a:t>近红外降解率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393322-4C04-40A5-8417-4B04F404B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676775"/>
            <a:ext cx="22383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CD0D1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BCD0D1"/>
                </a:solidFill>
                <a:latin typeface="PingFang SC"/>
                <a:ea typeface="PingFang SC"/>
                <a:cs typeface="PingFang SC"/>
              </a:rPr>
              <a:t>LVFX，180 min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5EA931-1D65-43DD-819F-F0CBDB2D3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71475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B9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A88845-4880-43E8-9EB6-EC5C72F2A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876675"/>
            <a:ext cx="2095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82.56%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8CF6F8-15A0-4B8B-A1DD-326A7A579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371975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5F1E8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5F1E8"/>
                </a:solidFill>
                <a:latin typeface="PingFang SC"/>
                <a:ea typeface="PingFang SC"/>
                <a:cs typeface="PingFang SC"/>
              </a:rPr>
              <a:t>第 4 次循环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5C0AC7-B920-41BB-ABE5-C0C681D95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676775"/>
            <a:ext cx="22383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CD0D1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BCD0D1"/>
                </a:solidFill>
                <a:latin typeface="PingFang SC"/>
                <a:ea typeface="PingFang SC"/>
                <a:cs typeface="PingFang SC"/>
              </a:rPr>
              <a:t>仍保持较高活性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4AC221-E4E9-4EC2-A0F9-84461826E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0"/>
            <a:ext cx="6572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7E0D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7E0DF"/>
                </a:solidFill>
                <a:latin typeface="Arial"/>
                <a:ea typeface="Arial"/>
                <a:cs typeface="Arial"/>
              </a:rPr>
              <a:t>Li et al. | Chemical Engineering Journal | 2020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770695-237B-4C4A-B7B7-954F9202B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60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324CC1-F201-4562-85FF-8051D820D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91300"/>
            <a:ext cx="933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FC0C2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FC0C2"/>
                </a:solidFill>
                <a:latin typeface="Arial"/>
                <a:ea typeface="Arial"/>
                <a:cs typeface="Arial"/>
              </a:rPr>
              <a:t>Li et al. | Chemical Engineering Journal 383 (2020) 123192 | DOI 10.1016/j.cej.2019.123192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85B9A75-A80F-4823-BF97-1A467CDC1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72250"/>
            <a:ext cx="647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E9B94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9B94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88473671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AA8E6D7-0754-476A-AEA8-B4A9E901F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8B42FE15-B238-4E63-9E85-5C2D167A0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8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5D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3EB2D3C5-C46E-4422-BF6B-AE6FBF179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1475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9767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9767B"/>
                </a:solidFill>
                <a:latin typeface="Arial"/>
                <a:ea typeface="Arial"/>
                <a:cs typeface="Arial"/>
              </a:rPr>
              <a:t>RESEARCH QUESTION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D27EA6-378C-4538-B708-BD44D7468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1049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4222B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4222B"/>
                </a:solidFill>
                <a:latin typeface="PingFang SC"/>
                <a:ea typeface="PingFang SC"/>
                <a:cs typeface="PingFang SC"/>
              </a:rPr>
              <a:t>论文的关键不是“多加一种材料”，而是重新组织四组矛盾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BBF452-5E80-4AA7-B355-8CD4A2174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24000"/>
            <a:ext cx="1066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9767B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9767B"/>
                </a:solidFill>
                <a:latin typeface="PingFang SC"/>
                <a:ea typeface="PingFang SC"/>
                <a:cs typeface="PingFang SC"/>
              </a:rPr>
              <a:t>材料的分工关系决定了复合体系是否真正有用。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6629F4-8CEB-4E2A-B925-4DC5480B9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66950"/>
            <a:ext cx="2476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A011B8-DF9E-489D-B520-118279E56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57450"/>
            <a:ext cx="514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A9D8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A9D8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C132F8-58E6-497C-B1A3-1FC3C6633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57450"/>
            <a:ext cx="1905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222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4222B"/>
                </a:solidFill>
                <a:latin typeface="PingFang SC"/>
                <a:ea typeface="PingFang SC"/>
                <a:cs typeface="PingFang SC"/>
              </a:rPr>
              <a:t>活性与回收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CC967A-6AD2-4244-A186-63E2E1027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43225"/>
            <a:ext cx="24955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9767B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9767B"/>
                </a:solidFill>
                <a:latin typeface="PingFang SC"/>
                <a:ea typeface="PingFang SC"/>
                <a:cs typeface="PingFang SC"/>
              </a:rPr>
              <a:t>粉体活性高，但反应后难分离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839264-8F6E-4B50-B875-397512505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14775"/>
            <a:ext cx="2476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22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22B"/>
                </a:solidFill>
                <a:latin typeface="Arial"/>
                <a:ea typeface="Arial"/>
                <a:cs typeface="Arial"/>
              </a:rPr>
              <a:t>ZnFe2O4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DA00DD-8B48-44A4-B353-ECE0C083E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95775"/>
            <a:ext cx="2476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A9D8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2A9D8F"/>
                </a:solidFill>
                <a:latin typeface="PingFang SC"/>
                <a:ea typeface="PingFang SC"/>
                <a:cs typeface="PingFang SC"/>
              </a:rPr>
              <a:t>磁性基底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A103FF-B904-4287-9760-1008BB77C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266950"/>
            <a:ext cx="2476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5D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F7695B-7F06-4A63-AF45-1939D4C08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457450"/>
            <a:ext cx="514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55D4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55D4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F78531-14C2-4035-960D-B9B5D7EA9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457450"/>
            <a:ext cx="1905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222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4222B"/>
                </a:solidFill>
                <a:latin typeface="PingFang SC"/>
                <a:ea typeface="PingFang SC"/>
                <a:cs typeface="PingFang SC"/>
              </a:rPr>
              <a:t>吸光与复合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36A0AA-2092-4834-983B-871DACCC5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943225"/>
            <a:ext cx="24955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9767B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9767B"/>
                </a:solidFill>
                <a:latin typeface="PingFang SC"/>
                <a:ea typeface="PingFang SC"/>
                <a:cs typeface="PingFang SC"/>
              </a:rPr>
              <a:t>吸收光子后，电子与空穴仍会复合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498675-ABD4-4533-BFE1-9823DB7DA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914775"/>
            <a:ext cx="2476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22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22B"/>
                </a:solidFill>
                <a:latin typeface="Arial"/>
                <a:ea typeface="Arial"/>
                <a:cs typeface="Arial"/>
              </a:rPr>
              <a:t>NCDs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9F20F6-A79D-4057-96C1-F5C72E9DB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295775"/>
            <a:ext cx="2476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55D42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E55D42"/>
                </a:solidFill>
                <a:latin typeface="PingFang SC"/>
                <a:ea typeface="PingFang SC"/>
                <a:cs typeface="PingFang SC"/>
              </a:rPr>
              <a:t>传递桥 + 光敏剂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A0CBC2-C641-4CB5-B901-D5E09A0FD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266950"/>
            <a:ext cx="2476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B9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BBA3BF-9071-4DD8-B490-B20EB0243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457450"/>
            <a:ext cx="514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9B94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9B94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A64037-19CC-4E56-9C43-99EE34B35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457450"/>
            <a:ext cx="1905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222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4222B"/>
                </a:solidFill>
                <a:latin typeface="PingFang SC"/>
                <a:ea typeface="PingFang SC"/>
                <a:cs typeface="PingFang SC"/>
              </a:rPr>
              <a:t>分离与强氧化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9B3761-43A0-4EA2-A79D-0782561B8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943225"/>
            <a:ext cx="24955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9767B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9767B"/>
                </a:solidFill>
                <a:latin typeface="PingFang SC"/>
                <a:ea typeface="PingFang SC"/>
                <a:cs typeface="PingFang SC"/>
              </a:rPr>
              <a:t>普通 II 型异质结可能削弱氧化还原能力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138AA6-D147-43DC-9A3C-1CC5366F9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914775"/>
            <a:ext cx="2476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22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22B"/>
                </a:solidFill>
                <a:latin typeface="Arial"/>
                <a:ea typeface="Arial"/>
                <a:cs typeface="Arial"/>
              </a:rPr>
              <a:t>Ag2CO3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26F15A-BC42-456C-9E3C-FC80BCE67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295775"/>
            <a:ext cx="2476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9B949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E9B949"/>
                </a:solidFill>
                <a:latin typeface="PingFang SC"/>
                <a:ea typeface="PingFang SC"/>
                <a:cs typeface="PingFang SC"/>
              </a:rPr>
              <a:t>高价带氧化能力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7AE7A47-6CE4-4DEB-BCFC-E4E1E9FAD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266950"/>
            <a:ext cx="2476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8D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102F345-0470-43C6-BCD2-23014EB9C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457450"/>
            <a:ext cx="514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C8D7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C8D7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51D71F9-7770-4A2A-91F3-D85EEDAC1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457450"/>
            <a:ext cx="1905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222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4222B"/>
                </a:solidFill>
                <a:latin typeface="PingFang SC"/>
                <a:ea typeface="PingFang SC"/>
                <a:cs typeface="PingFang SC"/>
              </a:rPr>
              <a:t>实验与应用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54A73F9-FAF8-46FD-AD12-1C97C835B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943225"/>
            <a:ext cx="24955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9767B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9767B"/>
                </a:solidFill>
                <a:latin typeface="PingFang SC"/>
                <a:ea typeface="PingFang SC"/>
                <a:cs typeface="PingFang SC"/>
              </a:rPr>
              <a:t>实验室降解率不等于可循环使用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151DEC2-0C4A-4506-BE2C-E110177D4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914775"/>
            <a:ext cx="2476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22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22B"/>
                </a:solidFill>
                <a:latin typeface="Arial"/>
                <a:ea typeface="Arial"/>
                <a:cs typeface="Arial"/>
              </a:rPr>
              <a:t>三元体系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928EB7C-FA13-4235-BC28-71B80F531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295775"/>
            <a:ext cx="2476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C8D72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5C8D72"/>
                </a:solidFill>
                <a:latin typeface="PingFang SC"/>
                <a:ea typeface="PingFang SC"/>
                <a:cs typeface="PingFang SC"/>
              </a:rPr>
              <a:t>Z 型路径 + 磁回收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3474857-F857-4D6C-8020-19A816337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05400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C4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04E4D78-51DA-4E81-90CB-77A87738A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62575"/>
            <a:ext cx="1257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55D42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E55D42"/>
                </a:solidFill>
                <a:latin typeface="PingFang SC"/>
                <a:ea typeface="PingFang SC"/>
                <a:cs typeface="PingFang SC"/>
              </a:rPr>
              <a:t>结构逻辑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22D5CF8-D6F5-448B-99C0-EA07B1F21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295900"/>
            <a:ext cx="91249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4222B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4222B"/>
                </a:solidFill>
                <a:latin typeface="PingFang SC"/>
                <a:ea typeface="PingFang SC"/>
                <a:cs typeface="PingFang SC"/>
              </a:rPr>
              <a:t>磁性回收能力 + Z 型电荷分离 + NCDs 电子桥 + 可见光 / 近红外响应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DA16A75-CCCE-4A16-B3FF-89C467F0F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8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1A2CCD3-A923-4FF2-952D-2C38E8AD0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91300"/>
            <a:ext cx="933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67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9767B"/>
                </a:solidFill>
                <a:latin typeface="Arial"/>
                <a:ea typeface="Arial"/>
                <a:cs typeface="Arial"/>
              </a:rPr>
              <a:t>Li et al. | Chemical Engineering Journal 383 (2020) 123192 | DOI 10.1016/j.cej.2019.123192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12A462B-C2CE-4FF9-86AD-A1070EC8B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72250"/>
            <a:ext cx="647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E55D4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55D4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70523607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1872EF8-5340-47E4-BC4E-1C203F103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65F69884-4B88-48DD-9BF7-50AFF4340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8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5D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FD2B4C38-5C13-4687-ACE1-07CD8488E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1475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9767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9767B"/>
                </a:solidFill>
                <a:latin typeface="Arial"/>
                <a:ea typeface="Arial"/>
                <a:cs typeface="Arial"/>
              </a:rPr>
              <a:t>STRUCTURE READING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35CAEC-58C0-4C40-B6E1-0D627B825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1049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4222B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4222B"/>
                </a:solidFill>
                <a:latin typeface="PingFang SC"/>
                <a:ea typeface="PingFang SC"/>
                <a:cs typeface="PingFang SC"/>
              </a:rPr>
              <a:t>它不是严格连续的核壳颗粒，而是表面负载的三元异质结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296B46-DBD7-482B-9E3C-95A57952C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24000"/>
            <a:ext cx="1066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9767B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9767B"/>
                </a:solidFill>
                <a:latin typeface="PingFang SC"/>
                <a:ea typeface="PingFang SC"/>
                <a:cs typeface="PingFang SC"/>
              </a:rPr>
              <a:t>TEM / HRTEM / EDS 支持“紧密接触”，但没有证明连续壳层及其厚度。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5FC4D3-0DD0-4141-B75D-A1602390B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85975"/>
            <a:ext cx="691515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6"/>
            </a:solidFill>
            <a:prstDash val="solid"/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1b80d612b54b46"/>
          <a:stretch xmlns:a="http://schemas.openxmlformats.org/drawingml/2006/main"/>
        </p:blipFill>
        <p:spPr>
          <a:xfrm xmlns:a="http://schemas.openxmlformats.org/drawingml/2006/main">
            <a:off x="1870751" y="2162175"/>
            <a:ext cx="4202349" cy="36576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85022E-BD94-4150-9546-F54553F5D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24550"/>
            <a:ext cx="6762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9767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9767B"/>
                </a:solidFill>
                <a:latin typeface="Arial"/>
                <a:ea typeface="Arial"/>
                <a:cs typeface="Arial"/>
              </a:rPr>
              <a:t>Fig. 2 | TEM, HRTEM, SEM and EDS mapping from the source paper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BB5336-5BC5-4340-814D-AEB6A2159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247900"/>
            <a:ext cx="11239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2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909023-F430-4D8A-9AC6-66D8E367C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286000"/>
            <a:ext cx="971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结构判读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D0DC86-CDA8-4CBE-BE0C-3C13196C4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8479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3BD871-4CED-4202-952F-772803851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781300"/>
            <a:ext cx="32575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4222B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4222B"/>
                </a:solidFill>
                <a:latin typeface="PingFang SC"/>
                <a:ea typeface="PingFang SC"/>
                <a:cs typeface="PingFang SC"/>
              </a:rPr>
              <a:t>ZnFe2O4 为直径约 100-150 nm 的磁性纳米球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663DFE-F5E5-40DD-9814-D7834EB93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5718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5D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CA5281-B699-42D2-8365-07570ADB3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505200"/>
            <a:ext cx="32575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4222B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4222B"/>
                </a:solidFill>
                <a:latin typeface="PingFang SC"/>
                <a:ea typeface="PingFang SC"/>
                <a:cs typeface="PingFang SC"/>
              </a:rPr>
              <a:t>Ag2CO3 纳米颗粒和小尺寸 NCDs 锚定于其表面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CB6B67-2715-4E19-A9F8-5236F885B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2957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B9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85B27F-178C-4C74-9DFC-C4EF3A1F4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229100"/>
            <a:ext cx="32575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4222B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4222B"/>
                </a:solidFill>
                <a:latin typeface="PingFang SC"/>
                <a:ea typeface="PingFang SC"/>
                <a:cs typeface="PingFang SC"/>
              </a:rPr>
              <a:t>三种晶格条纹和元素分布证明复合与接触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877E27-9F4E-414F-96C1-C68E9591E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933950"/>
            <a:ext cx="36385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EE9"/>
          </a:solidFill>
          <a:ln xmlns:a="http://schemas.openxmlformats.org/drawingml/2006/main" w="9525">
            <a:solidFill>
              <a:srgbClr val="BDD2C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8BE8B4-E087-49F1-BA61-FDBBD3812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08635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A9D8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A9D8F"/>
                </a:solidFill>
                <a:latin typeface="PingFang SC"/>
                <a:ea typeface="PingFang SC"/>
                <a:cs typeface="PingFang SC"/>
              </a:rPr>
              <a:t>更准确的写法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6EAF10-AD56-4B43-B823-D5221F807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353050"/>
            <a:ext cx="32575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222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4222B"/>
                </a:solidFill>
                <a:latin typeface="PingFang SC"/>
                <a:ea typeface="PingFang SC"/>
                <a:cs typeface="PingFang SC"/>
              </a:rPr>
              <a:t>磁性 ZnFe2O4 纳米球表面修饰的</a:t>
            </a:r>
          </a:p>
          <a:p xmlns:a="http://schemas.openxmlformats.org/drawingml/2006/main">
            <a:pPr algn="l">
              <a:defRPr sz="1350" b="1">
                <a:solidFill>
                  <a:srgbClr val="14222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4222B"/>
                </a:solidFill>
                <a:latin typeface="PingFang SC"/>
                <a:ea typeface="PingFang SC"/>
                <a:cs typeface="PingFang SC"/>
              </a:rPr>
              <a:t>三元 Z 型异质结复合光催化剂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D8EFB7-C45D-4BD9-8145-C0264CC16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8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F1A239-5B1F-4E44-B846-5A2A1EA7A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91300"/>
            <a:ext cx="933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67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9767B"/>
                </a:solidFill>
                <a:latin typeface="Arial"/>
                <a:ea typeface="Arial"/>
                <a:cs typeface="Arial"/>
              </a:rPr>
              <a:t>Li et al. | Chemical Engineering Journal 383 (2020) 123192 | DOI 10.1016/j.cej.2019.123192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7975DD-2D79-476B-8823-B1DEE8BC6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72250"/>
            <a:ext cx="647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E55D4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55D4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97790317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140A410-11A6-4AA3-8B47-FE690C7B3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C4F6E88E-68F7-4CA3-818B-43A2AF346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8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5D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B0A55F07-AD78-4FA9-ACC7-9D1E49854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1475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9767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9767B"/>
                </a:solidFill>
                <a:latin typeface="Arial"/>
                <a:ea typeface="Arial"/>
                <a:cs typeface="Arial"/>
              </a:rPr>
              <a:t>SYNTHESIS ROUTE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02B284-543E-4F65-976D-C24C719F4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1049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4222B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4222B"/>
                </a:solidFill>
                <a:latin typeface="PingFang SC"/>
                <a:ea typeface="PingFang SC"/>
                <a:cs typeface="PingFang SC"/>
              </a:rPr>
              <a:t>先制备两种基础组分，再用温和沉淀法完成三元组装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1577A2-AF01-40F5-837F-BB9098D8D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24000"/>
            <a:ext cx="1066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9767B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9767B"/>
                </a:solidFill>
                <a:latin typeface="PingFang SC"/>
                <a:ea typeface="PingFang SC"/>
                <a:cs typeface="PingFang SC"/>
              </a:rPr>
              <a:t>最优样品：5 mL NCDs 溶液，Ag2CO3 占复合材料总质量 25%。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D58526-09B8-48FB-86DD-D0E5E531F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38375"/>
            <a:ext cx="1333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55D4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E55D42"/>
                </a:solidFill>
                <a:latin typeface="Arial"/>
                <a:ea typeface="Arial"/>
                <a:cs typeface="Arial"/>
              </a:rPr>
              <a:t>NCDs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AC90FA-50E4-4FC0-A3C6-AFCDB633E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4795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F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46FECF-7A22-45A4-B20F-C9A9AE92F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1526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5D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2A70EA-A35D-49AD-8FC3-BCF457DCE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209800"/>
            <a:ext cx="342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BE446D-AA86-41DC-AB0E-73A46A015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11455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222B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4222B"/>
                </a:solidFill>
                <a:latin typeface="PingFang SC"/>
                <a:ea typeface="PingFang SC"/>
                <a:cs typeface="PingFang SC"/>
              </a:rPr>
              <a:t>柠檬酸 + 乙二胺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79C1D8-61A8-44E0-A04E-26E14C2AA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438400"/>
            <a:ext cx="32956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9767B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9767B"/>
                </a:solidFill>
                <a:latin typeface="PingFang SC"/>
                <a:ea typeface="PingFang SC"/>
                <a:cs typeface="PingFang SC"/>
              </a:rPr>
              <a:t>加入 10 mL 去离子水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13C202-F8AC-4609-8F46-54B51EFAB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526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5D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426D5C-85B6-4661-AE58-668CB456B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09800"/>
            <a:ext cx="342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CA4393-427E-44A7-86DF-8D0D69202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11455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222B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4222B"/>
                </a:solidFill>
                <a:latin typeface="PingFang SC"/>
                <a:ea typeface="PingFang SC"/>
                <a:cs typeface="PingFang SC"/>
              </a:rPr>
              <a:t>200 ℃ 水热 5 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ED5CB3-CB5E-4B80-991E-F49FA6EAE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438400"/>
            <a:ext cx="32956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9767B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9767B"/>
                </a:solidFill>
                <a:latin typeface="PingFang SC"/>
                <a:ea typeface="PingFang SC"/>
                <a:cs typeface="PingFang SC"/>
              </a:rPr>
              <a:t>离心去除大颗粒，冷冻干燥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A8253F-1E6E-4377-8A1C-FD015D3FE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76625"/>
            <a:ext cx="152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A9D8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A9D8F"/>
                </a:solidFill>
                <a:latin typeface="Arial"/>
                <a:ea typeface="Arial"/>
                <a:cs typeface="Arial"/>
              </a:rPr>
              <a:t>ZnFe2O4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493263-FD4E-4A10-B253-729989293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8620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F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B97A93-FE73-40C5-A0AE-1A4F13D5E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3909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0FE03E-FB4B-491C-9AF6-CF930866A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448050"/>
            <a:ext cx="342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5DB2AC-3152-46D2-9501-76D6099E1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35280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222B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4222B"/>
                </a:solidFill>
                <a:latin typeface="PingFang SC"/>
                <a:ea typeface="PingFang SC"/>
                <a:cs typeface="PingFang SC"/>
              </a:rPr>
              <a:t>硝酸盐 + 乙二醇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326985-38E1-4F47-A266-D0CBB600B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676650"/>
            <a:ext cx="32956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9767B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9767B"/>
                </a:solidFill>
                <a:latin typeface="PingFang SC"/>
                <a:ea typeface="PingFang SC"/>
                <a:cs typeface="PingFang SC"/>
              </a:rPr>
              <a:t>Fe : Zn = 2 : 1，加入醋酸钠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982EAE-DD7E-4CB5-8F1B-72A0EE42C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909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F072B46-B012-4D28-B362-8AC2F8003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48050"/>
            <a:ext cx="342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95C4E32-42BA-41D0-8492-738660CFC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35280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222B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4222B"/>
                </a:solidFill>
                <a:latin typeface="PingFang SC"/>
                <a:ea typeface="PingFang SC"/>
                <a:cs typeface="PingFang SC"/>
              </a:rPr>
              <a:t>180 ℃ 水热 18 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D6F309A-C151-43DC-8E0F-A8A4AC7B1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676650"/>
            <a:ext cx="32956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9767B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9767B"/>
                </a:solidFill>
                <a:latin typeface="PingFang SC"/>
                <a:ea typeface="PingFang SC"/>
                <a:cs typeface="PingFang SC"/>
              </a:rPr>
              <a:t>前驱体在 500 ℃ 下煅烧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762CE3B-99CC-49A9-BEB2-EE41C1B60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14875"/>
            <a:ext cx="152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9B949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E9B949"/>
                </a:solidFill>
                <a:latin typeface="PingFang SC"/>
                <a:ea typeface="PingFang SC"/>
                <a:cs typeface="PingFang SC"/>
              </a:rPr>
              <a:t>三元组装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9010ADA-AB16-4F78-B759-8BE13266A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2445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F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D9F023F-A214-461A-A6AB-53B72DA1F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6291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B9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CFA48FE-0C98-4B9C-8B98-08CFAEBD1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686300"/>
            <a:ext cx="342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F8C66D7-195E-4F0E-AB0B-DE9B9A34A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59105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222B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4222B"/>
                </a:solidFill>
                <a:latin typeface="PingFang SC"/>
                <a:ea typeface="PingFang SC"/>
                <a:cs typeface="PingFang SC"/>
              </a:rPr>
              <a:t>AgNO3 + NCDs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A1D77C6-9420-4E2C-841C-59851719F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914900"/>
            <a:ext cx="32956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9767B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9767B"/>
                </a:solidFill>
                <a:latin typeface="PingFang SC"/>
                <a:ea typeface="PingFang SC"/>
                <a:cs typeface="PingFang SC"/>
              </a:rPr>
              <a:t>超声 20 min 后加入 ZnFe2O4 分散液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772A28F-9D80-49BA-A331-ED339CFE0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291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B9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70093D6-EB05-4ED0-8E75-387AA7068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86300"/>
            <a:ext cx="342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371A1F0-0A63-4CF8-A780-BB1773396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59105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4222B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4222B"/>
                </a:solidFill>
                <a:latin typeface="PingFang SC"/>
                <a:ea typeface="PingFang SC"/>
                <a:cs typeface="PingFang SC"/>
              </a:rPr>
              <a:t>NaHCO3 沉淀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5B2E9DD-D9D8-421A-923F-805C28084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914900"/>
            <a:ext cx="32956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9767B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9767B"/>
                </a:solidFill>
                <a:latin typeface="PingFang SC"/>
                <a:ea typeface="PingFang SC"/>
                <a:cs typeface="PingFang SC"/>
              </a:rPr>
              <a:t>避光搅拌 2 h，洗涤，60 ℃ 干燥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DC701F1-0AED-461B-B6CC-7F353D41E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8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CB5929C-6DED-4B22-A67E-10814D63B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91300"/>
            <a:ext cx="933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67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9767B"/>
                </a:solidFill>
                <a:latin typeface="Arial"/>
                <a:ea typeface="Arial"/>
                <a:cs typeface="Arial"/>
              </a:rPr>
              <a:t>Li et al. | Chemical Engineering Journal 383 (2020) 123192 | DOI 10.1016/j.cej.2019.123192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43BF060-D608-45F2-B6B8-980F45134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72250"/>
            <a:ext cx="647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E55D4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55D4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9479762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5314307-F8BF-43AB-85AF-50F508101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77FC5412-A8AC-4371-906C-B34571F2C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8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5D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6945F0CA-9955-4AF9-89A5-042F82AE1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1475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9767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9767B"/>
                </a:solidFill>
                <a:latin typeface="Arial"/>
                <a:ea typeface="Arial"/>
                <a:cs typeface="Arial"/>
              </a:rPr>
              <a:t>VISIBLE-LIGHT PROOF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A5536B-FCE9-4BE5-88A1-99F5D5154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1049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4222B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4222B"/>
                </a:solidFill>
                <a:latin typeface="PingFang SC"/>
                <a:ea typeface="PingFang SC"/>
                <a:cs typeface="PingFang SC"/>
              </a:rPr>
              <a:t>三元体系在可见光下将 LVFX 降解率推到 88.75%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7B9EE5-6688-4CFF-8706-5BC239686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24000"/>
            <a:ext cx="1066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9767B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9767B"/>
                </a:solidFill>
                <a:latin typeface="PingFang SC"/>
                <a:ea typeface="PingFang SC"/>
                <a:cs typeface="PingFang SC"/>
              </a:rPr>
              <a:t>提升来自组分协同，而不是单一 ZnFe2O4 的本征活性。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87AAEA-962B-4BA9-93A2-BF653CDEF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90750"/>
            <a:ext cx="6534150" cy="2609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6"/>
            </a:solidFill>
            <a:prstDash val="solid"/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57abc5c85347b9"/>
          <a:stretch xmlns:a="http://schemas.openxmlformats.org/drawingml/2006/main"/>
        </p:blipFill>
        <p:spPr>
          <a:xfrm xmlns:a="http://schemas.openxmlformats.org/drawingml/2006/main">
            <a:off x="590550" y="2269281"/>
            <a:ext cx="6381750" cy="2452788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7FF9DD-35E3-4A08-8FE4-28BE5C3B3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29175"/>
            <a:ext cx="638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9767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9767B"/>
                </a:solidFill>
                <a:latin typeface="Arial"/>
                <a:ea typeface="Arial"/>
                <a:cs typeface="Arial"/>
              </a:rPr>
              <a:t>Fig. 6 | Visible-light degradation and pseudo-first-order kinetics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83876D-209B-4CAD-9D4C-4F7ECE181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209800"/>
            <a:ext cx="2952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9767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69767B"/>
                </a:solidFill>
                <a:latin typeface="PingFang SC"/>
                <a:ea typeface="PingFang SC"/>
                <a:cs typeface="PingFang SC"/>
              </a:rPr>
              <a:t>90 min 降解率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C5D592-D695-4DE5-9706-4BA81D76A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781300"/>
            <a:ext cx="147637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22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222B"/>
                </a:solidFill>
                <a:latin typeface="Arial"/>
                <a:ea typeface="Arial"/>
                <a:cs typeface="Arial"/>
              </a:rPr>
              <a:t>ZnFe2O4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9CABD8-CA02-4757-9D1A-7F88708B5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105150"/>
            <a:ext cx="3143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8C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5EF410-1B1E-443A-AA5F-B80EF3A6F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105150"/>
            <a:ext cx="371532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6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95608B-1FFF-4A5C-B318-548ACCFF7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028950"/>
            <a:ext cx="704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69767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9767B"/>
                </a:solidFill>
                <a:latin typeface="Arial"/>
                <a:ea typeface="Arial"/>
                <a:cs typeface="Arial"/>
              </a:rPr>
              <a:t>11.82%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77767E-7F5C-4A84-99FC-9ADE23531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600450"/>
            <a:ext cx="147637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22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222B"/>
                </a:solidFill>
                <a:latin typeface="Arial"/>
                <a:ea typeface="Arial"/>
                <a:cs typeface="Arial"/>
              </a:rPr>
              <a:t>Ag2CO3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3A89E5-DCEB-44DB-B395-384999599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924300"/>
            <a:ext cx="3143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8C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807C22-FF41-48F9-A611-D8CCBF6CB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924300"/>
            <a:ext cx="209089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ACCD03-EADA-4C61-9AC4-6FFDF68BA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848100"/>
            <a:ext cx="704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2A9D8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A9D8F"/>
                </a:solidFill>
                <a:latin typeface="Arial"/>
                <a:ea typeface="Arial"/>
                <a:cs typeface="Arial"/>
              </a:rPr>
              <a:t>66.52%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27B903-E9DE-45E0-B415-79D10A754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419600"/>
            <a:ext cx="147637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22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222B"/>
                </a:solidFill>
                <a:latin typeface="Arial"/>
                <a:ea typeface="Arial"/>
                <a:cs typeface="Arial"/>
              </a:rPr>
              <a:t>三元体系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9D1F8A-4DEA-42EB-B3C6-42A1DC748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743450"/>
            <a:ext cx="3143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8C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418BB4-2BD1-4BEC-9514-89F8AD80D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743450"/>
            <a:ext cx="2789634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5D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403C5E-99A5-434E-885C-5F642C721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667250"/>
            <a:ext cx="704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E55D4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55D42"/>
                </a:solidFill>
                <a:latin typeface="Arial"/>
                <a:ea typeface="Arial"/>
                <a:cs typeface="Arial"/>
              </a:rPr>
              <a:t>88.75%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57D27C-0D0C-48F1-8BAF-92763BCBB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219700"/>
            <a:ext cx="39624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2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314127-C112-4A27-B1B5-038B716AC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5372100"/>
            <a:ext cx="3524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E9B949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E9B949"/>
                </a:solidFill>
                <a:latin typeface="Arial"/>
                <a:ea typeface="Arial"/>
                <a:cs typeface="Arial"/>
              </a:rPr>
              <a:t>k = 0.02081 min^-1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538D72-8005-4475-A416-087493143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7721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6E0D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D6E0DF"/>
                </a:solidFill>
                <a:latin typeface="PingFang SC"/>
                <a:ea typeface="PingFang SC"/>
                <a:cs typeface="PingFang SC"/>
              </a:rPr>
              <a:t>三元体系拟一级反应速率常数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2CDD41D-1746-4600-A97E-C1EEE4836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8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22039A2-195A-4F66-BA58-9D59127BC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91300"/>
            <a:ext cx="933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67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9767B"/>
                </a:solidFill>
                <a:latin typeface="Arial"/>
                <a:ea typeface="Arial"/>
                <a:cs typeface="Arial"/>
              </a:rPr>
              <a:t>Li et al. | Chemical Engineering Journal 383 (2020) 123192 | DOI 10.1016/j.cej.2019.123192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90DF6F4-5B3A-4F75-9CB3-4DE6D2947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72250"/>
            <a:ext cx="647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E55D4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55D42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90460172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D529A6B-27AE-4638-BD18-5EAC166EB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CF9A051D-E0F3-4F0B-96D0-FD9327D5A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8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5D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226B7093-8E89-41CB-90D1-12CBBA78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1475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9767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9767B"/>
                </a:solidFill>
                <a:latin typeface="Arial"/>
                <a:ea typeface="Arial"/>
                <a:cs typeface="Arial"/>
              </a:rPr>
              <a:t>BOUNDARY CONDITIONS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5E1877-5B59-45A2-8293-8FFDFF8C0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1049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4222B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4222B"/>
                </a:solidFill>
                <a:latin typeface="PingFang SC"/>
                <a:ea typeface="PingFang SC"/>
                <a:cs typeface="PingFang SC"/>
              </a:rPr>
              <a:t>响应范围扩展到近红外，但性能边界仍然清晰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7C3407-5248-4A84-B4C5-2C930C152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24000"/>
            <a:ext cx="1066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9767B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9767B"/>
                </a:solidFill>
                <a:latin typeface="PingFang SC"/>
                <a:ea typeface="PingFang SC"/>
                <a:cs typeface="PingFang SC"/>
              </a:rPr>
              <a:t>能用近红外不等于近红外已经高效；复杂水体中的离子也会重新塑造反应。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F85A65-B8D2-4EC0-B705-958CD8E04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52650"/>
            <a:ext cx="53721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6"/>
            </a:solidFill>
            <a:prstDash val="solid"/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68584cf1004142"/>
          <a:stretch xmlns:a="http://schemas.openxmlformats.org/drawingml/2006/main"/>
        </p:blipFill>
        <p:spPr>
          <a:xfrm xmlns:a="http://schemas.openxmlformats.org/drawingml/2006/main">
            <a:off x="591754" y="2228850"/>
            <a:ext cx="5217293" cy="20383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08C4D1-A4BD-4D13-B1A2-6384303D1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71975"/>
            <a:ext cx="5219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9767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9767B"/>
                </a:solidFill>
                <a:latin typeface="Arial"/>
                <a:ea typeface="Arial"/>
                <a:cs typeface="Arial"/>
              </a:rPr>
              <a:t>Fig. 7 | NIR-light degradation and kinetic constants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9395CF-1CEE-4338-891D-CC166AE20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6695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DFEEEA-2535-43CE-8CD0-E6E8108F2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28875"/>
            <a:ext cx="2095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22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222B"/>
                </a:solidFill>
                <a:latin typeface="Arial"/>
                <a:ea typeface="Arial"/>
                <a:cs typeface="Arial"/>
              </a:rPr>
              <a:t>22.53%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7ACC2F-E595-4F98-A773-DECDFB006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924175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22B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4222B"/>
                </a:solidFill>
                <a:latin typeface="PingFang SC"/>
                <a:ea typeface="PingFang SC"/>
                <a:cs typeface="PingFang SC"/>
              </a:rPr>
              <a:t>近红外降解率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42AC64-B32C-411D-B3A7-E8E9657B6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228975"/>
            <a:ext cx="22383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9767B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9767B"/>
                </a:solidFill>
                <a:latin typeface="PingFang SC"/>
                <a:ea typeface="PingFang SC"/>
                <a:cs typeface="PingFang SC"/>
              </a:rPr>
              <a:t>180 min；可测但明显弱于可见光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CCF6C5-BAD9-4EFD-A5FF-E8E993EC3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6695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B9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692DDA-B6A9-4803-9406-7CC8136EC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28875"/>
            <a:ext cx="2095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22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222B"/>
                </a:solidFill>
                <a:latin typeface="Arial"/>
                <a:ea typeface="Arial"/>
                <a:cs typeface="Arial"/>
              </a:rPr>
              <a:t>0.000561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522137-4FB9-4370-AC83-9D9773C18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924175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22B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4222B"/>
                </a:solidFill>
                <a:latin typeface="PingFang SC"/>
                <a:ea typeface="PingFang SC"/>
                <a:cs typeface="PingFang SC"/>
              </a:rPr>
              <a:t>k / min^-1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A553DF-19AE-4DA8-B7F1-2F48AA497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28975"/>
            <a:ext cx="22383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9767B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9767B"/>
                </a:solidFill>
                <a:latin typeface="PingFang SC"/>
                <a:ea typeface="PingFang SC"/>
                <a:cs typeface="PingFang SC"/>
              </a:rPr>
              <a:t>NIR 条件下的拟一级速率常数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F0F445-7B64-4C44-9427-4386B844C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5775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C6B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0C5D7E-23B9-4526-AA49-7E959EA78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4350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55D42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E55D42"/>
                </a:solidFill>
                <a:latin typeface="PingFang SC"/>
                <a:ea typeface="PingFang SC"/>
                <a:cs typeface="PingFang SC"/>
              </a:rPr>
              <a:t>真实水体约束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0888D8-DBC5-4AF2-BB6E-FFE157B98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105400"/>
            <a:ext cx="152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C8D7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C8D72"/>
                </a:solidFill>
                <a:latin typeface="Arial"/>
                <a:ea typeface="Arial"/>
                <a:cs typeface="Arial"/>
              </a:rPr>
              <a:t>Na+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7CF184-0D52-4056-9154-8C252C540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467350"/>
            <a:ext cx="152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222B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4222B"/>
                </a:solidFill>
                <a:latin typeface="PingFang SC"/>
                <a:ea typeface="PingFang SC"/>
                <a:cs typeface="PingFang SC"/>
              </a:rPr>
              <a:t>影响较小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FC6F60-CC60-4DCC-B5EB-73329E356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105400"/>
            <a:ext cx="152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C8D7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C8D72"/>
                </a:solidFill>
                <a:latin typeface="Arial"/>
                <a:ea typeface="Arial"/>
                <a:cs typeface="Arial"/>
              </a:rPr>
              <a:t>SO4^2- / NO3-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887254-502D-499B-83A3-5B4F2583D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467350"/>
            <a:ext cx="152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222B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4222B"/>
                </a:solidFill>
                <a:latin typeface="PingFang SC"/>
                <a:ea typeface="PingFang SC"/>
                <a:cs typeface="PingFang SC"/>
              </a:rPr>
              <a:t>影响较小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F5CB42-13DF-4590-9B82-53B215D14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5105400"/>
            <a:ext cx="152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9B94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9B949"/>
                </a:solidFill>
                <a:latin typeface="Arial"/>
                <a:ea typeface="Arial"/>
                <a:cs typeface="Arial"/>
              </a:rPr>
              <a:t>Cl-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278B5D6-6CC3-4749-80DF-84AD44880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5467350"/>
            <a:ext cx="152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222B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4222B"/>
                </a:solidFill>
                <a:latin typeface="PingFang SC"/>
                <a:ea typeface="PingFang SC"/>
                <a:cs typeface="PingFang SC"/>
              </a:rPr>
              <a:t>轻微抑制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5D6433F-D434-4283-A515-F4A4BFA88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5105400"/>
            <a:ext cx="152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55D4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55D42"/>
                </a:solidFill>
                <a:latin typeface="Arial"/>
                <a:ea typeface="Arial"/>
                <a:cs typeface="Arial"/>
              </a:rPr>
              <a:t>Ca2+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A33EA17-D822-47CA-9676-24979D4F4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5467350"/>
            <a:ext cx="152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222B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4222B"/>
                </a:solidFill>
                <a:latin typeface="PingFang SC"/>
                <a:ea typeface="PingFang SC"/>
                <a:cs typeface="PingFang SC"/>
              </a:rPr>
              <a:t>明显抑制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1D53BE0-F709-4B25-946D-E45E4E8D5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5105400"/>
            <a:ext cx="152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55D4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55D42"/>
                </a:solidFill>
                <a:latin typeface="Arial"/>
                <a:ea typeface="Arial"/>
                <a:cs typeface="Arial"/>
              </a:rPr>
              <a:t>Mg2+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7DDC9EF-4F51-4900-80DC-728911DE2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5467350"/>
            <a:ext cx="152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222B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4222B"/>
                </a:solidFill>
                <a:latin typeface="PingFang SC"/>
                <a:ea typeface="PingFang SC"/>
                <a:cs typeface="PingFang SC"/>
              </a:rPr>
              <a:t>抑制更强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BA00402-E571-49F9-9CE7-369A475BB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905500"/>
            <a:ext cx="8096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9767B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9767B"/>
                </a:solidFill>
                <a:latin typeface="PingFang SC"/>
                <a:ea typeface="PingFang SC"/>
                <a:cs typeface="PingFang SC"/>
              </a:rPr>
              <a:t>Mg2+ / Ca2+ 可能与 LVFX 配位，降低可降解性。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5062E65-1F9A-466E-9C21-578F01FB0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8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ECA1112-CFE9-4A7F-BC15-C91D2B92B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91300"/>
            <a:ext cx="933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67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9767B"/>
                </a:solidFill>
                <a:latin typeface="Arial"/>
                <a:ea typeface="Arial"/>
                <a:cs typeface="Arial"/>
              </a:rPr>
              <a:t>Li et al. | Chemical Engineering Journal 383 (2020) 123192 | DOI 10.1016/j.cej.2019.123192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D4F085E-631E-4EDE-950A-EB90EEAFF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72250"/>
            <a:ext cx="647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E55D4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55D42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85454314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62492E9-E0FB-46B9-A5D7-84FF828D2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AFCF992C-4337-4B39-A0DC-E51F95A0C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8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5D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A63CB5D0-3899-4EF9-B0EA-202EA65D7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1475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9767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9767B"/>
                </a:solidFill>
                <a:latin typeface="Arial"/>
                <a:ea typeface="Arial"/>
                <a:cs typeface="Arial"/>
              </a:rPr>
              <a:t>MECHANISM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24B6C9-9F02-4D2B-9328-8D4944841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1049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4222B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4222B"/>
                </a:solidFill>
                <a:latin typeface="PingFang SC"/>
                <a:ea typeface="PingFang SC"/>
                <a:cs typeface="PingFang SC"/>
              </a:rPr>
              <a:t>活性提升来自电荷分离与界面转移，而不是比表面积变大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2CDD92-6AFE-4ADE-93C9-4C354C192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24000"/>
            <a:ext cx="1066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9767B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9767B"/>
                </a:solidFill>
                <a:latin typeface="PingFang SC"/>
                <a:ea typeface="PingFang SC"/>
                <a:cs typeface="PingFang SC"/>
              </a:rPr>
              <a:t>三元体系的比表面积反而略低于 ZnFe2O4；真正改变的是电荷行为。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88B733-55B7-4E05-8596-A25F52663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57400"/>
            <a:ext cx="6343650" cy="3486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6"/>
            </a:solidFill>
            <a:prstDash val="solid"/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62c715ca8946d4"/>
          <a:stretch xmlns:a="http://schemas.openxmlformats.org/drawingml/2006/main"/>
        </p:blipFill>
        <p:spPr>
          <a:xfrm xmlns:a="http://schemas.openxmlformats.org/drawingml/2006/main">
            <a:off x="1466805" y="2133600"/>
            <a:ext cx="4438739" cy="33337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041A71-BD7C-47E7-93D8-1D2589A37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72125"/>
            <a:ext cx="619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9767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9767B"/>
                </a:solidFill>
                <a:latin typeface="Arial"/>
                <a:ea typeface="Arial"/>
                <a:cs typeface="Arial"/>
              </a:rPr>
              <a:t>Fig. 12 | Photocurrent, EIS, TRPL and Bode-phase spectra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89892B-08E4-49D0-BA1E-2C890137C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057400"/>
            <a:ext cx="455295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6"/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173f824f1e4375"/>
          <a:stretch xmlns:a="http://schemas.openxmlformats.org/drawingml/2006/main"/>
        </p:blipFill>
        <p:spPr>
          <a:xfrm xmlns:a="http://schemas.openxmlformats.org/drawingml/2006/main">
            <a:off x="7181850" y="2135447"/>
            <a:ext cx="4400550" cy="1672706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1C1610-FB56-40B3-9D19-20C5C9C67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914775"/>
            <a:ext cx="4400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9767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9767B"/>
                </a:solidFill>
                <a:latin typeface="Arial"/>
                <a:ea typeface="Arial"/>
                <a:cs typeface="Arial"/>
              </a:rPr>
              <a:t>Fig. 5 | UV-vis DRS and estimated band gaps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83FF5F-4E56-4242-A169-73E564306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26720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5D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C50DC8-E123-48CA-8FBC-B23C71C77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400550"/>
            <a:ext cx="19621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222B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4222B"/>
                </a:solidFill>
                <a:latin typeface="PingFang SC"/>
                <a:ea typeface="PingFang SC"/>
                <a:cs typeface="PingFang SC"/>
              </a:rPr>
              <a:t>光电流最高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27272C-5AD1-4213-9680-EFF6445EF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667250"/>
            <a:ext cx="1962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9767B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9767B"/>
                </a:solidFill>
                <a:latin typeface="PingFang SC"/>
                <a:ea typeface="PingFang SC"/>
                <a:cs typeface="PingFang SC"/>
              </a:rPr>
              <a:t>更多光生载流子完成有效分离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DC07BE-85BE-4A06-8827-9860DCE82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26720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CF29E3-2BCE-40A3-92E0-53E2403D8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400550"/>
            <a:ext cx="19621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222B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4222B"/>
                </a:solidFill>
                <a:latin typeface="PingFang SC"/>
                <a:ea typeface="PingFang SC"/>
                <a:cs typeface="PingFang SC"/>
              </a:rPr>
              <a:t>EIS 半圆最小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0506C6-51B3-46DD-908C-71EB375FC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667250"/>
            <a:ext cx="1962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9767B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9767B"/>
                </a:solidFill>
                <a:latin typeface="PingFang SC"/>
                <a:ea typeface="PingFang SC"/>
                <a:cs typeface="PingFang SC"/>
              </a:rPr>
              <a:t>界面电荷转移阻力更低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4D2054-73A5-4FAE-BD6D-4631D857C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10540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B9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B09379-B15D-4A0A-9D65-84E7C7938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38750"/>
            <a:ext cx="19621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222B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4222B"/>
                </a:solidFill>
                <a:latin typeface="PingFang SC"/>
                <a:ea typeface="PingFang SC"/>
                <a:cs typeface="PingFang SC"/>
              </a:rPr>
              <a:t>TRPL 寿命更长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3808A5-706E-4EE0-8372-AEE9E8256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505450"/>
            <a:ext cx="1962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9767B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9767B"/>
                </a:solidFill>
                <a:latin typeface="PingFang SC"/>
                <a:ea typeface="PingFang SC"/>
                <a:cs typeface="PingFang SC"/>
              </a:rPr>
              <a:t>0.8057 ns，高于二元体系与 ZnFe2O4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08A803-8506-461B-9D62-4FBBC4323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510540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8D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782600-540E-49C0-90C4-60BDFC48D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5238750"/>
            <a:ext cx="19621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222B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4222B"/>
                </a:solidFill>
                <a:latin typeface="PingFang SC"/>
                <a:ea typeface="PingFang SC"/>
                <a:cs typeface="PingFang SC"/>
              </a:rPr>
              <a:t>DRS 红移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629E8DB-06EB-4722-91F8-9242179DD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5505450"/>
            <a:ext cx="1962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9767B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9767B"/>
                </a:solidFill>
                <a:latin typeface="PingFang SC"/>
                <a:ea typeface="PingFang SC"/>
                <a:cs typeface="PingFang SC"/>
              </a:rPr>
              <a:t>NCDs 加入后光吸收范围扩大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AB40502-ABA1-4D80-AD34-08A91B5E0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8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4796C3C-DB0F-4BB9-82CA-899676FBF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91300"/>
            <a:ext cx="933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67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9767B"/>
                </a:solidFill>
                <a:latin typeface="Arial"/>
                <a:ea typeface="Arial"/>
                <a:cs typeface="Arial"/>
              </a:rPr>
              <a:t>Li et al. | Chemical Engineering Journal 383 (2020) 123192 | DOI 10.1016/j.cej.2019.123192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6FE20A2-A6C5-43C8-ABDF-49009F07E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72250"/>
            <a:ext cx="647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E55D4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55D42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55282521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36BB2E8-0DBD-4120-A00C-B2FDCFA05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2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1035E0DC-4AE2-484A-886F-82C56A137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8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B9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26514820-8339-4D90-9236-C8943B49C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1475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5F1E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F1E8"/>
                </a:solidFill>
                <a:latin typeface="Arial"/>
                <a:ea typeface="Arial"/>
                <a:cs typeface="Arial"/>
              </a:rPr>
              <a:t>Z-SCHEME MECHANISM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8F7028-D7A4-4B8F-A337-C9A982F86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1049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Z 型路径保留最强的还原电子与氧化空穴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F38192-CB63-44C2-B119-6A3D876A5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24000"/>
            <a:ext cx="1066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9D5D6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C9D5D6"/>
                </a:solidFill>
                <a:latin typeface="PingFang SC"/>
                <a:ea typeface="PingFang SC"/>
                <a:cs typeface="PingFang SC"/>
              </a:rPr>
              <a:t>NCDs 是电子传递桥，也是作者用来解释近红外响应扩展的关键组分。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22A615-4A24-47B2-AACE-6C070E691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52650"/>
            <a:ext cx="6572250" cy="3771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f1edf013c64ffa"/>
          <a:stretch xmlns:a="http://schemas.openxmlformats.org/drawingml/2006/main"/>
        </p:blipFill>
        <p:spPr>
          <a:xfrm xmlns:a="http://schemas.openxmlformats.org/drawingml/2006/main">
            <a:off x="861231" y="2286000"/>
            <a:ext cx="5954688" cy="35052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CDE2C8-543C-44BD-B2C7-E4D68881C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238375"/>
            <a:ext cx="10287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5D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D0EE68-19BB-4120-AD2C-3EAF9529B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276475"/>
            <a:ext cx="876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电荷保留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DA9194-41F1-49D4-BB52-73053882E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8003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BCF073-D327-4832-ACB1-6458246AF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733675"/>
            <a:ext cx="3448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5F1E8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F5F1E8"/>
                </a:solidFill>
                <a:latin typeface="PingFang SC"/>
                <a:ea typeface="PingFang SC"/>
                <a:cs typeface="PingFang SC"/>
              </a:rPr>
              <a:t>ZnFe2O4 导带电子：-0.81 eV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81BDB3-0A81-4F75-92E7-139BB8EF6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2670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B9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B571D7-7CC0-4D56-AC5D-4E95C3F0E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200400"/>
            <a:ext cx="3448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5F1E8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F5F1E8"/>
                </a:solidFill>
                <a:latin typeface="PingFang SC"/>
                <a:ea typeface="PingFang SC"/>
                <a:cs typeface="PingFang SC"/>
              </a:rPr>
              <a:t>Ag2CO3 价带空穴：+2.92 eV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5C0052-4049-4825-868E-5E98506D5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848100"/>
            <a:ext cx="10287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3B7A75-D0A4-412E-A60C-BBEAEEA2A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886200"/>
            <a:ext cx="876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活性物种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A2EDF6-D344-442A-920A-881CB3F9C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362450"/>
            <a:ext cx="838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55D4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55D42"/>
                </a:solidFill>
                <a:latin typeface="Arial"/>
                <a:ea typeface="Arial"/>
                <a:cs typeface="Arial"/>
              </a:rPr>
              <a:t>·O2-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746327-9802-49CF-A5A1-D2A96B82F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4005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F1E8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5F1E8"/>
                </a:solidFill>
                <a:latin typeface="PingFang SC"/>
                <a:ea typeface="PingFang SC"/>
                <a:cs typeface="PingFang SC"/>
              </a:rPr>
              <a:t>主要作用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15A1B6-F8A4-48DA-8FAA-85B8338A5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857750"/>
            <a:ext cx="838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A9D8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A9D8F"/>
                </a:solidFill>
                <a:latin typeface="Arial"/>
                <a:ea typeface="Arial"/>
                <a:cs typeface="Arial"/>
              </a:rPr>
              <a:t>·OH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819BAF-2A84-477A-8DBD-2DCC1B057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8958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F1E8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5F1E8"/>
                </a:solidFill>
                <a:latin typeface="PingFang SC"/>
                <a:ea typeface="PingFang SC"/>
                <a:cs typeface="PingFang SC"/>
              </a:rPr>
              <a:t>参与反应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D5D7B2-D9F0-4FF1-B905-28BA08391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5353050"/>
            <a:ext cx="838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9B94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9B949"/>
                </a:solidFill>
                <a:latin typeface="Arial"/>
                <a:ea typeface="Arial"/>
                <a:cs typeface="Arial"/>
              </a:rPr>
              <a:t>h+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C89267-22C5-4195-8653-1D54400BF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53911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F1E8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5F1E8"/>
                </a:solidFill>
                <a:latin typeface="PingFang SC"/>
                <a:ea typeface="PingFang SC"/>
                <a:cs typeface="PingFang SC"/>
              </a:rPr>
              <a:t>参与反应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9C76075-13FB-4819-B866-49EC000F6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60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03049EC-09C4-4D89-82DF-256371D33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91300"/>
            <a:ext cx="933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FC0C2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FC0C2"/>
                </a:solidFill>
                <a:latin typeface="Arial"/>
                <a:ea typeface="Arial"/>
                <a:cs typeface="Arial"/>
              </a:rPr>
              <a:t>Li et al. | Chemical Engineering Journal 383 (2020) 123192 | DOI 10.1016/j.cej.2019.123192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8F8185D-E10B-41EC-81AD-81B06D980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72250"/>
            <a:ext cx="647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E9B94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9B949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11689474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B782ABA-C89A-4FEB-94EC-95ECC39DE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6F23783A-E228-45B1-9E12-DBA5E8A64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8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5D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6D9A9C15-86EE-4770-8D9C-A77C88FEC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1475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9767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9767B"/>
                </a:solidFill>
                <a:latin typeface="Arial"/>
                <a:ea typeface="Arial"/>
                <a:cs typeface="Arial"/>
              </a:rPr>
              <a:t>PRACTICAL READING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2AD0A0-9FBD-4A53-8484-49FFEA26F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1049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4222B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4222B"/>
                </a:solidFill>
                <a:latin typeface="PingFang SC"/>
                <a:ea typeface="PingFang SC"/>
                <a:cs typeface="PingFang SC"/>
              </a:rPr>
              <a:t>磁回收有现实意义，但应用结论还需要继续检验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ECFD2C-8BE3-48CC-A7C6-FC4D4B7D7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24000"/>
            <a:ext cx="1066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9767B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9767B"/>
                </a:solidFill>
                <a:latin typeface="PingFang SC"/>
                <a:ea typeface="PingFang SC"/>
                <a:cs typeface="PingFang SC"/>
              </a:rPr>
              <a:t>论文展示了可循环性；真正走向水处理，还要面对长期稳定性和矿化不足。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47C0F5-E03B-446A-AF51-8066FD449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76450"/>
            <a:ext cx="53721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6"/>
            </a:solidFill>
            <a:prstDash val="solid"/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5887672ff24a9c"/>
          <a:stretch xmlns:a="http://schemas.openxmlformats.org/drawingml/2006/main"/>
        </p:blipFill>
        <p:spPr>
          <a:xfrm xmlns:a="http://schemas.openxmlformats.org/drawingml/2006/main">
            <a:off x="599451" y="2152650"/>
            <a:ext cx="5201898" cy="37528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D4EAFA-4869-418B-8614-59F8DC17D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10275"/>
            <a:ext cx="5219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9767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9767B"/>
                </a:solidFill>
                <a:latin typeface="Arial"/>
                <a:ea typeface="Arial"/>
                <a:cs typeface="Arial"/>
              </a:rPr>
              <a:t>Fig. 11 | Recyclability, structural stability, photocurrent and magnetic separation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58999F-D39A-46E8-B1F7-24DCE96DC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19075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BDA23B-CD31-461B-BD3C-70A5CAB9B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352675"/>
            <a:ext cx="2095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22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222B"/>
                </a:solidFill>
                <a:latin typeface="Arial"/>
                <a:ea typeface="Arial"/>
                <a:cs typeface="Arial"/>
              </a:rPr>
              <a:t>82.56%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921DAD-ED37-41C6-B7B9-FD83BE934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847975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22B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4222B"/>
                </a:solidFill>
                <a:latin typeface="PingFang SC"/>
                <a:ea typeface="PingFang SC"/>
                <a:cs typeface="PingFang SC"/>
              </a:rPr>
              <a:t>第 4 次循环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D6F9FE-8219-4E96-8C4B-FE240179F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152775"/>
            <a:ext cx="22383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9767B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9767B"/>
                </a:solidFill>
                <a:latin typeface="PingFang SC"/>
                <a:ea typeface="PingFang SC"/>
                <a:cs typeface="PingFang SC"/>
              </a:rPr>
              <a:t>降解率仍保持较高水平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4F7162-43C9-4E75-9C24-D5E85E03E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9075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B9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4ECD13-E294-4E3A-B001-814488479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352675"/>
            <a:ext cx="2095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22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222B"/>
                </a:solidFill>
                <a:latin typeface="Arial"/>
                <a:ea typeface="Arial"/>
                <a:cs typeface="Arial"/>
              </a:rPr>
              <a:t>5.72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F11123-3EAC-4FA8-A835-78E27B4F9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847975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22B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4222B"/>
                </a:solidFill>
                <a:latin typeface="PingFang SC"/>
                <a:ea typeface="PingFang SC"/>
                <a:cs typeface="PingFang SC"/>
              </a:rPr>
              <a:t>emu / 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BE7D01-3D7C-484F-BE52-6AEAB267E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152775"/>
            <a:ext cx="22383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9767B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9767B"/>
                </a:solidFill>
                <a:latin typeface="PingFang SC"/>
                <a:ea typeface="PingFang SC"/>
                <a:cs typeface="PingFang SC"/>
              </a:rPr>
              <a:t>饱和磁化强度，可实现磁分离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5B47C0-BAC4-4CDB-B096-9828A8875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8290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55D42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E55D42"/>
                </a:solidFill>
                <a:latin typeface="PingFang SC"/>
                <a:ea typeface="PingFang SC"/>
                <a:cs typeface="PingFang SC"/>
              </a:rPr>
              <a:t>批判性判断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02AFF9-9FD7-428F-9379-B34915928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3338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5D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FD61A2-70B9-4D11-9206-5D27A15D3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267200"/>
            <a:ext cx="4591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4222B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4222B"/>
                </a:solidFill>
                <a:latin typeface="PingFang SC"/>
                <a:ea typeface="PingFang SC"/>
                <a:cs typeface="PingFang SC"/>
              </a:rPr>
              <a:t>4 次循环不足以代表长期稳定性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0BF1CD-8CB3-48FC-8A01-F6D22FD34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7148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B9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E8027F-6C1F-48B9-8DA3-F151819A7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648200"/>
            <a:ext cx="4591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4222B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4222B"/>
                </a:solidFill>
                <a:latin typeface="PingFang SC"/>
                <a:ea typeface="PingFang SC"/>
                <a:cs typeface="PingFang SC"/>
              </a:rPr>
              <a:t>TOC 去除率仅 44.75%，降解不等于完全矿化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14146B-ACB0-42CF-A738-4D1907B6D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0958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5D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AB15B5-A895-48FA-83B4-2688F88F3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029200"/>
            <a:ext cx="4591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4222B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4222B"/>
                </a:solidFill>
                <a:latin typeface="PingFang SC"/>
                <a:ea typeface="PingFang SC"/>
                <a:cs typeface="PingFang SC"/>
              </a:rPr>
              <a:t>还需检测 Ag、Fe、Zn 浸出与潜在二次污染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CAD8D71-DCB9-4951-B9C9-165F55447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4768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CFCC4E3-B23E-4F48-AA5E-71F8B6527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410200"/>
            <a:ext cx="4591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4222B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4222B"/>
                </a:solidFill>
                <a:latin typeface="PingFang SC"/>
                <a:ea typeface="PingFang SC"/>
                <a:cs typeface="PingFang SC"/>
              </a:rPr>
              <a:t>真实废水中的 pH、天然有机质和浊度仍待验证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F142D83-098E-4A5D-A858-8DC654B45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8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D62C0A2-A0AB-4550-9F2F-5AD7F1C5F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91300"/>
            <a:ext cx="933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67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9767B"/>
                </a:solidFill>
                <a:latin typeface="Arial"/>
                <a:ea typeface="Arial"/>
                <a:cs typeface="Arial"/>
              </a:rPr>
              <a:t>Li et al. | Chemical Engineering Journal 383 (2020) 123192 | DOI 10.1016/j.cej.2019.123192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2858EA3-8537-42B9-A550-89E9F414C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72250"/>
            <a:ext cx="647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E55D4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55D42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050374959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1BE3CD5-D85A-410E-A5DC-2C4DD8E2B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3988FE49-15E5-4CD2-856D-9D0AC48EE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8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5D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30FD6137-87C4-42FA-B361-C9144FD7D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1475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9767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9767B"/>
                </a:solidFill>
                <a:latin typeface="Arial"/>
                <a:ea typeface="Arial"/>
                <a:cs typeface="Arial"/>
              </a:rPr>
              <a:t>TAKEAWAY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713BE7-9980-4AC8-B317-2BE761391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1049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4222B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4222B"/>
                </a:solidFill>
                <a:latin typeface="PingFang SC"/>
                <a:ea typeface="PingFang SC"/>
                <a:cs typeface="PingFang SC"/>
              </a:rPr>
              <a:t>最值得复用的不是配方，而是一条完整的实验论证链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54917B-E41C-4528-8A0E-FB39BBC96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24000"/>
            <a:ext cx="1066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9767B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9767B"/>
                </a:solidFill>
                <a:latin typeface="PingFang SC"/>
                <a:ea typeface="PingFang SC"/>
                <a:cs typeface="PingFang SC"/>
              </a:rPr>
              <a:t>把材料设计放回实践检验：每一种新增组分，都必须有明确作用和对应证据。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ACCB90-34B0-45D6-A221-A60C5EC9C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81350"/>
            <a:ext cx="9810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E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F137BC-545B-4E22-B599-ED1442ADB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527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5D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6E9443-81E4-432B-AECB-8F990D9DD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038475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FECBDC-B550-4C85-8A60-10F5E5679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14750"/>
            <a:ext cx="1257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4222B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4222B"/>
                </a:solidFill>
                <a:latin typeface="PingFang SC"/>
                <a:ea typeface="PingFang SC"/>
                <a:cs typeface="PingFang SC"/>
              </a:rPr>
              <a:t>结构成立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CBBAB7-E052-48D7-A89C-419382416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71950"/>
            <a:ext cx="152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9767B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9767B"/>
                </a:solidFill>
                <a:latin typeface="PingFang SC"/>
                <a:ea typeface="PingFang SC"/>
                <a:cs typeface="PingFang SC"/>
              </a:rPr>
              <a:t>XRD / TEM / EDS</a:t>
            </a:r>
          </a:p>
          <a:p xmlns:a="http://schemas.openxmlformats.org/drawingml/2006/main">
            <a:pPr algn="ctr">
              <a:defRPr sz="1050" b="0">
                <a:solidFill>
                  <a:srgbClr val="69767B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9767B"/>
                </a:solidFill>
                <a:latin typeface="PingFang SC"/>
                <a:ea typeface="PingFang SC"/>
                <a:cs typeface="PingFang SC"/>
              </a:rPr>
              <a:t>证明材料确实做出来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1843C5-C161-4013-8D77-C6EF66B24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9527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36D101-FDB1-46D5-BA14-FA6647674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038475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3A0E1C-5CE8-4DB5-92A5-B017ED687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714750"/>
            <a:ext cx="1257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4222B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4222B"/>
                </a:solidFill>
                <a:latin typeface="PingFang SC"/>
                <a:ea typeface="PingFang SC"/>
                <a:cs typeface="PingFang SC"/>
              </a:rPr>
              <a:t>性能提高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DE3AF5-6A75-43FF-A93B-5D26B7D60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171950"/>
            <a:ext cx="152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9767B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9767B"/>
                </a:solidFill>
                <a:latin typeface="PingFang SC"/>
                <a:ea typeface="PingFang SC"/>
                <a:cs typeface="PingFang SC"/>
              </a:rPr>
              <a:t>单组分 / 二元 / 三元</a:t>
            </a:r>
          </a:p>
          <a:p xmlns:a="http://schemas.openxmlformats.org/drawingml/2006/main">
            <a:pPr algn="ctr">
              <a:defRPr sz="1050" b="0">
                <a:solidFill>
                  <a:srgbClr val="69767B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9767B"/>
                </a:solidFill>
                <a:latin typeface="PingFang SC"/>
                <a:ea typeface="PingFang SC"/>
                <a:cs typeface="PingFang SC"/>
              </a:rPr>
              <a:t>建立对照关系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3B0CD1-73BE-4A3D-A37C-C9A83E85A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9527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B9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AFD726-CA53-47F9-8C5F-42E9E5813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038475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09FE27-3AEB-48CC-89AC-CC3024AC8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714750"/>
            <a:ext cx="1257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4222B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4222B"/>
                </a:solidFill>
                <a:latin typeface="PingFang SC"/>
                <a:ea typeface="PingFang SC"/>
                <a:cs typeface="PingFang SC"/>
              </a:rPr>
              <a:t>原因解释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94B898-5B97-4003-92D7-1406756F9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171950"/>
            <a:ext cx="152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9767B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9767B"/>
                </a:solidFill>
                <a:latin typeface="PingFang SC"/>
                <a:ea typeface="PingFang SC"/>
                <a:cs typeface="PingFang SC"/>
              </a:rPr>
              <a:t>光电流 / EIS / TRPL</a:t>
            </a:r>
          </a:p>
          <a:p xmlns:a="http://schemas.openxmlformats.org/drawingml/2006/main">
            <a:pPr algn="ctr">
              <a:defRPr sz="1050" b="0">
                <a:solidFill>
                  <a:srgbClr val="69767B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9767B"/>
                </a:solidFill>
                <a:latin typeface="PingFang SC"/>
                <a:ea typeface="PingFang SC"/>
                <a:cs typeface="PingFang SC"/>
              </a:rPr>
              <a:t>证明电荷行为改变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A12CBC-26A2-4344-8FAD-4D9365010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9527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5D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E3961B-CA32-46C2-A3AC-82395EF18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38475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9FA634-7A2F-4C69-8B51-989E92546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714750"/>
            <a:ext cx="1257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4222B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4222B"/>
                </a:solidFill>
                <a:latin typeface="PingFang SC"/>
                <a:ea typeface="PingFang SC"/>
                <a:cs typeface="PingFang SC"/>
              </a:rPr>
              <a:t>机理闭环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EA13E4-A05C-4C80-9144-A0CFFC55A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171950"/>
            <a:ext cx="152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9767B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9767B"/>
                </a:solidFill>
                <a:latin typeface="PingFang SC"/>
                <a:ea typeface="PingFang SC"/>
                <a:cs typeface="PingFang SC"/>
              </a:rPr>
              <a:t>捕获实验 / ESR / 能带</a:t>
            </a:r>
          </a:p>
          <a:p xmlns:a="http://schemas.openxmlformats.org/drawingml/2006/main">
            <a:pPr algn="ctr">
              <a:defRPr sz="1050" b="0">
                <a:solidFill>
                  <a:srgbClr val="69767B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9767B"/>
                </a:solidFill>
                <a:latin typeface="PingFang SC"/>
                <a:ea typeface="PingFang SC"/>
                <a:cs typeface="PingFang SC"/>
              </a:rPr>
              <a:t>识别活性物种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C3327D-C2BE-452F-8501-ADF2DEE09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29527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C8D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95EE204-CD77-42CC-8E1F-DCEBD76A5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3038475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F06BBB2-436F-4746-B973-FCFB2E9B4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3714750"/>
            <a:ext cx="1257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4222B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4222B"/>
                </a:solidFill>
                <a:latin typeface="PingFang SC"/>
                <a:ea typeface="PingFang SC"/>
                <a:cs typeface="PingFang SC"/>
              </a:rPr>
              <a:t>应用检验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0064E98-9FC2-40FE-B655-F67980243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4171950"/>
            <a:ext cx="152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9767B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9767B"/>
                </a:solidFill>
                <a:latin typeface="PingFang SC"/>
                <a:ea typeface="PingFang SC"/>
                <a:cs typeface="PingFang SC"/>
              </a:rPr>
              <a:t>循环 / 浸出 / 真实水体</a:t>
            </a:r>
          </a:p>
          <a:p xmlns:a="http://schemas.openxmlformats.org/drawingml/2006/main">
            <a:pPr algn="ctr">
              <a:defRPr sz="1050" b="0">
                <a:solidFill>
                  <a:srgbClr val="69767B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9767B"/>
                </a:solidFill>
                <a:latin typeface="PingFang SC"/>
                <a:ea typeface="PingFang SC"/>
                <a:cs typeface="PingFang SC"/>
              </a:rPr>
              <a:t>检验可用性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8C8B393-2941-40E8-BABA-F7EFEF303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29250"/>
            <a:ext cx="110109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2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3AA02A9-27C6-4A10-A4FC-EF6749969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19750"/>
            <a:ext cx="1219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9B949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E9B949"/>
                </a:solidFill>
                <a:latin typeface="PingFang SC"/>
                <a:ea typeface="PingFang SC"/>
                <a:cs typeface="PingFang SC"/>
              </a:rPr>
              <a:t>下一步建议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ACBBD69-DD6A-4FCB-8172-F58CE913B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581650"/>
            <a:ext cx="9067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如果做新的复合降解材料，先把“组分作用—对照实验—表征证据—现实约束”写成一张实验设计表。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4A7C022-9FC9-49F6-A8ED-B4BC739C6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8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9B6B392-1F5F-414E-8A71-9A737E7AF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91300"/>
            <a:ext cx="933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67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9767B"/>
                </a:solidFill>
                <a:latin typeface="Arial"/>
                <a:ea typeface="Arial"/>
                <a:cs typeface="Arial"/>
              </a:rPr>
              <a:t>Li et al. | Chemical Engineering Journal 383 (2020) 123192 | DOI 10.1016/j.cej.2019.123192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71BFB6B-54DD-4DE1-ADB6-7BB4B8EDE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72250"/>
            <a:ext cx="647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E55D4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55D42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67958725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2026-06-02T08:59:14.1700000Z</dcterms:created>
  <dcterms:modified xsi:type="dcterms:W3CDTF">2026-06-02T08:59:14.1700000Z</dcterms:modified>
</coreProperties>
</file>